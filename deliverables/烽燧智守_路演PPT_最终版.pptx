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292789c28c4dbf" /><Relationship Type="http://schemas.openxmlformats.org/officeDocument/2006/relationships/extended-properties" Target="/docProps/app.xml" Id="R26d44a7527db4d27" /><Relationship Type="http://schemas.openxmlformats.org/officeDocument/2006/relationships/officeDocument" Target="/ppt/presentation.xml" Id="R17ccc01558f44d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f904553d6a443b"/>
  </p:sldMasterIdLst>
  <p:notesMasterIdLst>
    <p:notesMasterId xmlns:r="http://schemas.openxmlformats.org/officeDocument/2006/relationships" r:id="Rcfc5eea117aa4c9e"/>
  </p:notesMasterIdLst>
  <p:sldIdLst>
    <p:sldId xmlns:r="http://schemas.openxmlformats.org/officeDocument/2006/relationships" id="256" r:id="R4dc426618a134b06"/>
    <p:sldId xmlns:r="http://schemas.openxmlformats.org/officeDocument/2006/relationships" id="257" r:id="R76a2a9d807384af4"/>
    <p:sldId xmlns:r="http://schemas.openxmlformats.org/officeDocument/2006/relationships" id="258" r:id="R07a346b9af5246a4"/>
    <p:sldId xmlns:r="http://schemas.openxmlformats.org/officeDocument/2006/relationships" id="259" r:id="R2f1ac448cb534c7c"/>
    <p:sldId xmlns:r="http://schemas.openxmlformats.org/officeDocument/2006/relationships" id="260" r:id="Rd0aeea3fcad3434f"/>
    <p:sldId xmlns:r="http://schemas.openxmlformats.org/officeDocument/2006/relationships" id="261" r:id="Rd6e50320a7d14b6d"/>
    <p:sldId xmlns:r="http://schemas.openxmlformats.org/officeDocument/2006/relationships" id="262" r:id="Rf5290c186fbf4c52"/>
    <p:sldId xmlns:r="http://schemas.openxmlformats.org/officeDocument/2006/relationships" id="263" r:id="Rb6ff994472704830"/>
    <p:sldId xmlns:r="http://schemas.openxmlformats.org/officeDocument/2006/relationships" id="264" r:id="R35b5d0b584c04eab"/>
    <p:sldId xmlns:r="http://schemas.openxmlformats.org/officeDocument/2006/relationships" id="265" r:id="R26627bd483ae4eab"/>
    <p:sldId xmlns:r="http://schemas.openxmlformats.org/officeDocument/2006/relationships" id="266" r:id="Rd7c073afbce248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d1304302f04ae6" /><Relationship Type="http://schemas.openxmlformats.org/officeDocument/2006/relationships/slideMaster" Target="/ppt/slideMasters/slideMaster1.xml" Id="R4ff904553d6a443b" /><Relationship Type="http://schemas.openxmlformats.org/officeDocument/2006/relationships/notesMaster" Target="/ppt/notesMasters/notesMaster1.xml" Id="Rcfc5eea117aa4c9e" /><Relationship Type="http://schemas.openxmlformats.org/officeDocument/2006/relationships/presProps" Target="/ppt/presProps.xml" Id="R3e25c3db3b654c8a" /><Relationship Type="http://schemas.openxmlformats.org/officeDocument/2006/relationships/tableStyles" Target="/ppt/tableStyles.xml" Id="R58373e911daf4073" /><Relationship Type="http://schemas.openxmlformats.org/officeDocument/2006/relationships/slide" Target="/ppt/slides/slide1.xml" Id="R4dc426618a134b06" /><Relationship Type="http://schemas.openxmlformats.org/officeDocument/2006/relationships/slide" Target="/ppt/slides/slide2.xml" Id="R76a2a9d807384af4" /><Relationship Type="http://schemas.openxmlformats.org/officeDocument/2006/relationships/slide" Target="/ppt/slides/slide3.xml" Id="R07a346b9af5246a4" /><Relationship Type="http://schemas.openxmlformats.org/officeDocument/2006/relationships/slide" Target="/ppt/slides/slide4.xml" Id="R2f1ac448cb534c7c" /><Relationship Type="http://schemas.openxmlformats.org/officeDocument/2006/relationships/slide" Target="/ppt/slides/slide5.xml" Id="Rd0aeea3fcad3434f" /><Relationship Type="http://schemas.openxmlformats.org/officeDocument/2006/relationships/slide" Target="/ppt/slides/slide6.xml" Id="Rd6e50320a7d14b6d" /><Relationship Type="http://schemas.openxmlformats.org/officeDocument/2006/relationships/slide" Target="/ppt/slides/slide7.xml" Id="Rf5290c186fbf4c52" /><Relationship Type="http://schemas.openxmlformats.org/officeDocument/2006/relationships/slide" Target="/ppt/slides/slide8.xml" Id="Rb6ff994472704830" /><Relationship Type="http://schemas.openxmlformats.org/officeDocument/2006/relationships/slide" Target="/ppt/slides/slide9.xml" Id="R35b5d0b584c04eab" /><Relationship Type="http://schemas.openxmlformats.org/officeDocument/2006/relationships/slide" Target="/ppt/slides/slide10.xml" Id="R26627bd483ae4eab" /><Relationship Type="http://schemas.openxmlformats.org/officeDocument/2006/relationships/slide" Target="/ppt/slides/slide11.xml" Id="Rd7c073afbce248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0c8af8290f40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09c94daaec4a3c" /><Relationship Type="http://schemas.openxmlformats.org/officeDocument/2006/relationships/notesMaster" Target="/ppt/notesMasters/notesMaster1.xml" Id="R77c0ce227e1446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7ce6d484e394c82" /><Relationship Type="http://schemas.openxmlformats.org/officeDocument/2006/relationships/notesMaster" Target="/ppt/notesMasters/notesMaster1.xml" Id="Rc60e0d1e78d243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6928faed67420e" /><Relationship Type="http://schemas.openxmlformats.org/officeDocument/2006/relationships/notesMaster" Target="/ppt/notesMasters/notesMaster1.xml" Id="Re4c269e4d1784d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bb19605d1bc4bf1" /><Relationship Type="http://schemas.openxmlformats.org/officeDocument/2006/relationships/notesMaster" Target="/ppt/notesMasters/notesMaster1.xml" Id="R34c10c4295464e5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7e1bf122834b72" /><Relationship Type="http://schemas.openxmlformats.org/officeDocument/2006/relationships/notesMaster" Target="/ppt/notesMasters/notesMaster1.xml" Id="R9ec6e2f706e4478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a815ca87bc4bba" /><Relationship Type="http://schemas.openxmlformats.org/officeDocument/2006/relationships/notesMaster" Target="/ppt/notesMasters/notesMaster1.xml" Id="R150545a211bf44c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4927759fa7416d" /><Relationship Type="http://schemas.openxmlformats.org/officeDocument/2006/relationships/notesMaster" Target="/ppt/notesMasters/notesMaster1.xml" Id="Re64dbf5b1d8e43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dab393c8db4486" /><Relationship Type="http://schemas.openxmlformats.org/officeDocument/2006/relationships/notesMaster" Target="/ppt/notesMasters/notesMaster1.xml" Id="Re3a2092760ab4e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cf2c05a07854934" /><Relationship Type="http://schemas.openxmlformats.org/officeDocument/2006/relationships/notesMaster" Target="/ppt/notesMasters/notesMaster1.xml" Id="R756a04872e04446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a1367a4ab564341" /><Relationship Type="http://schemas.openxmlformats.org/officeDocument/2006/relationships/notesMaster" Target="/ppt/notesMasters/notesMaster1.xml" Id="R873459e7ee384a6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2383846c0c94d98" /><Relationship Type="http://schemas.openxmlformats.org/officeDocument/2006/relationships/notesMaster" Target="/ppt/notesMasters/notesMaster1.xml" Id="Re10ed4c784734f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b7a8ae0bac46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b8d9a8794104d4b" /><Relationship Type="http://schemas.openxmlformats.org/officeDocument/2006/relationships/slideLayout" Target="/ppt/slideLayouts/slideLayout1.xml" Id="R3e7158bf3d794c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158bf3d794c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57b3e7c46478a" /><Relationship Type="http://schemas.openxmlformats.org/officeDocument/2006/relationships/image" Target="/ppt/media/image.jpeg" Id="Rc6b89d0f10304f67" /><Relationship Type="http://schemas.openxmlformats.org/officeDocument/2006/relationships/notesSlide" Target="/ppt/notesSlides/notesSlide1.xml" Id="R8964d84f5a8f41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d71f408914a29" /><Relationship Type="http://schemas.openxmlformats.org/officeDocument/2006/relationships/image" Target="/ppt/media/image2.jpeg" Id="R99978fc757ed40e5" /><Relationship Type="http://schemas.openxmlformats.org/officeDocument/2006/relationships/notesSlide" Target="/ppt/notesSlides/notesSlide2.xml" Id="R5db324c01fcc462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ce9941a464bb2" /><Relationship Type="http://schemas.openxmlformats.org/officeDocument/2006/relationships/image" Target="/ppt/media/image3.jpeg" Id="R754801ff3006462b" /><Relationship Type="http://schemas.openxmlformats.org/officeDocument/2006/relationships/notesSlide" Target="/ppt/notesSlides/notesSlide3.xml" Id="R8f03389bfd804b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da70296bdf45e4" /><Relationship Type="http://schemas.openxmlformats.org/officeDocument/2006/relationships/image" Target="/ppt/media/image4.jpeg" Id="R704cc1a5f6a84b33" /><Relationship Type="http://schemas.openxmlformats.org/officeDocument/2006/relationships/notesSlide" Target="/ppt/notesSlides/notesSlide4.xml" Id="R1a27eebe4a0042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77a361af94d5b" /><Relationship Type="http://schemas.openxmlformats.org/officeDocument/2006/relationships/image" Target="/ppt/media/image5.jpeg" Id="R9b9b9341cc304e26" /><Relationship Type="http://schemas.openxmlformats.org/officeDocument/2006/relationships/notesSlide" Target="/ppt/notesSlides/notesSlide5.xml" Id="R4a5c499de41849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2a33e95f24211" /><Relationship Type="http://schemas.openxmlformats.org/officeDocument/2006/relationships/image" Target="/ppt/media/image6.jpeg" Id="R59746eac1921424b" /><Relationship Type="http://schemas.openxmlformats.org/officeDocument/2006/relationships/notesSlide" Target="/ppt/notesSlides/notesSlide6.xml" Id="R189a5f2da5ee43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803cdf9d8a473f" /><Relationship Type="http://schemas.openxmlformats.org/officeDocument/2006/relationships/image" Target="/ppt/media/image7.jpeg" Id="Ref8bdaf1174d4d62" /><Relationship Type="http://schemas.openxmlformats.org/officeDocument/2006/relationships/image" Target="/ppt/media/image8.jpeg" Id="Rb3abb89d88144494" /><Relationship Type="http://schemas.openxmlformats.org/officeDocument/2006/relationships/notesSlide" Target="/ppt/notesSlides/notesSlide7.xml" Id="R52dd66d6eef843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7070b3ee634448" /><Relationship Type="http://schemas.openxmlformats.org/officeDocument/2006/relationships/image" Target="/ppt/media/image9.jpeg" Id="R09b358615c124065" /><Relationship Type="http://schemas.openxmlformats.org/officeDocument/2006/relationships/notesSlide" Target="/ppt/notesSlides/notesSlide8.xml" Id="R3bb77316095f4c7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8fbadc27284040" /><Relationship Type="http://schemas.openxmlformats.org/officeDocument/2006/relationships/notesSlide" Target="/ppt/notesSlides/notesSlide9.xml" Id="Rcafaa65fce9a417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a7270293f4306" /><Relationship Type="http://schemas.openxmlformats.org/officeDocument/2006/relationships/image" Target="/ppt/media/image10.jpeg" Id="R9358ac33a7474fb1" /><Relationship Type="http://schemas.openxmlformats.org/officeDocument/2006/relationships/image" Target="/ppt/media/image11.jpeg" Id="R038cf6101537417e" /><Relationship Type="http://schemas.openxmlformats.org/officeDocument/2006/relationships/notesSlide" Target="/ppt/notesSlides/notesSlide10.xml" Id="R80b7df899c0f42f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a7e8d7b43f4a75" /><Relationship Type="http://schemas.openxmlformats.org/officeDocument/2006/relationships/image" Target="/ppt/media/image12.jpeg" Id="Rf1f7c4b6f9e9496a" /><Relationship Type="http://schemas.openxmlformats.org/officeDocument/2006/relationships/notesSlide" Target="/ppt/notesSlides/notesSlide11.xml" Id="Rffc6824437f84a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DDCEF7-AC37-487F-BBA1-F65C9CF5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9525"/>
            <a:ext cx="6362700" cy="6838950"/>
          </a:xfrm>
          <a:prstGeom xmlns:a="http://schemas.openxmlformats.org/drawingml/2006/main" prst="roundRect">
            <a:avLst>
              <a:gd name="adj" fmla="val 898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b89d0f10304f67"/>
          <a:srcRect xmlns:a="http://schemas.openxmlformats.org/drawingml/2006/main" l="20932" t="0" r="209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48350" y="38100"/>
            <a:ext cx="6305550" cy="6781800"/>
          </a:xfrm>
          <a:prstGeom xmlns:a="http://schemas.openxmlformats.org/drawingml/2006/main" prst="roundRect">
            <a:avLst>
              <a:gd name="adj" fmla="val 906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EBCF-ACBD-4F32-96AC-D909F453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667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3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4D660-6A04-4EA9-A412-FCA92FAE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93BD3-41AF-4D0B-8C8B-A9071806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7C4"/>
                </a:solidFill>
              </a:defRPr>
            </a:pPr>
            <a:r>
              <a:rPr sz="1125" b="1">
                <a:solidFill>
                  <a:srgbClr val="36D7C4"/>
                </a:solidFill>
              </a:rPr>
              <a:t>AI创新比赛 · 工业智能运维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83522-850C-4D59-BFDD-00984851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3F7FA"/>
                </a:solidFill>
              </a:defRPr>
            </a:pPr>
            <a:r>
              <a:rPr sz="4350" b="1">
                <a:solidFill>
                  <a:srgbClr val="F3F7FA"/>
                </a:solidFill>
              </a:rPr>
              <a:t>烽燧智守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D7F466-020C-49E5-A028-FD0742C2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62200"/>
            <a:ext cx="49530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3F7FA"/>
                </a:solidFill>
              </a:defRPr>
            </a:pPr>
            <a:r>
              <a:rPr sz="2100" b="1">
                <a:solidFill>
                  <a:srgbClr val="F3F7FA"/>
                </a:solidFill>
              </a:rPr>
              <a:t>面向垃圾焚烧发电厂关键设备的</a:t>
            </a:r>
          </a:p>
          <a:p xmlns:a="http://schemas.openxmlformats.org/drawingml/2006/main">
            <a:pPr algn="l">
              <a:defRPr sz="2100" b="1">
                <a:solidFill>
                  <a:srgbClr val="F3F7FA"/>
                </a:solidFill>
              </a:defRPr>
            </a:pPr>
            <a:r>
              <a:rPr sz="2100" b="1">
                <a:solidFill>
                  <a:srgbClr val="F3F7FA"/>
                </a:solidFill>
              </a:rPr>
              <a:t>故障预警与智能运维系统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C8836B-0FFC-426A-BA68-E20F648B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9BB1C1"/>
                </a:solidFill>
              </a:defRPr>
            </a:pPr>
            <a:r>
              <a:rPr sz="1425" b="0">
                <a:solidFill>
                  <a:srgbClr val="9BB1C1"/>
                </a:solidFill>
              </a:rPr>
              <a:t>可运行AI · 可追溯证据 · 可交互3D · 可闭环飞书协同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E0FA0B-A7CF-4913-A8AD-BAC13829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4F8541-88D9-4EE1-B640-4AAE5F5E8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5A24B"/>
                </a:solidFill>
              </a:defRPr>
            </a:pPr>
            <a:r>
              <a:rPr sz="1050" b="0">
                <a:solidFill>
                  <a:srgbClr val="F5A24B"/>
                </a:solidFill>
              </a:rPr>
              <a:t>比赛演示数据｜规则模型与可选大模型协同｜不代表真实设备诊断结论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45C800-0A7E-4CDC-8515-F2155A7C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2026年7月</a:t>
            </a:r>
          </a:p>
        </p:txBody>
      </p:sp>
    </p:spTree>
    <p:extLst>
      <p:ext uri="{BB962C8B-B14F-4D97-AF65-F5344CB8AC3E}">
        <p14:creationId xmlns:p14="http://schemas.microsoft.com/office/powerpoint/2010/main" val="19470871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BE521C-CE82-4D76-AF41-19424CD2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DBE71-678D-4BAF-A81E-44361ADF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399171A-3544-482B-8367-46763061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真正的难点，是把异常判断变成可执行闭环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BC11BE-3759-4F5D-90AF-0D4A7467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9862EF-E01E-4458-A5C9-59388D4CA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C95A0-AC3A-4AF8-9B3D-537383C7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19225"/>
            <a:ext cx="6915150" cy="4362450"/>
          </a:xfrm>
          <a:prstGeom xmlns:a="http://schemas.openxmlformats.org/drawingml/2006/main" prst="roundRect">
            <a:avLst>
              <a:gd name="adj" fmla="val 1310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78fc757ed40e5"/>
          <a:srcRect xmlns:a="http://schemas.openxmlformats.org/drawingml/2006/main" l="200" t="0" r="2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47800"/>
            <a:ext cx="6858000" cy="4305300"/>
          </a:xfrm>
          <a:prstGeom xmlns:a="http://schemas.openxmlformats.org/drawingml/2006/main" prst="roundRect">
            <a:avLst>
              <a:gd name="adj" fmla="val 13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A48F2-6DBB-4DC2-B690-690C6A69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621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FC107A-485C-4FE8-8E98-D4207B6D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859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数据分散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2F1C7-0BB3-448B-AF34-6A9449C7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7716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设备、预警、工单与备件彼此割裂，异常难以形成统一上下文。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0E41D9-E950-4153-9B2F-01E6FB68B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832DBF-CC0B-4C9C-9C86-3E973AC5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判断难追溯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5A86EC-6030-4937-B885-250E1D81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575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只有结论、缺少趋势证据与知识来源，现场人员难以复核。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421E9-CA31-4BF9-B352-EA73317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5C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49A0CC-C206-4274-986F-A2D99F3A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576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处置难闭环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0B2777-4E25-4B93-BEEF-CB9547E8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4335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诊断、通知、接单、维修、验证与案例沉淀缺少连续状态。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B3DB5-9C89-4040-82FE-B89EB81F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19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CC7BBB-9900-4AD9-A9C1-861981F1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43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烽燧智守的答案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B53D57-FAF0-49AF-B13E-A3F3A57A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29200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用同一份业务状态连接监测、研判、3D定位、飞书工单与知识回流。</a:t>
            </a:r>
          </a:p>
        </p:txBody>
      </p:sp>
    </p:spTree>
    <p:extLst>
      <p:ext uri="{BB962C8B-B14F-4D97-AF65-F5344CB8AC3E}">
        <p14:creationId xmlns:p14="http://schemas.microsoft.com/office/powerpoint/2010/main" val="11209675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B7AA5F-CA2D-4044-BB68-28FE5CBD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491DD-F3A2-4A7D-9124-8939AB4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4EB15210-0DEC-40B0-A4EE-D755A01B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1号引风机案例，让每一步判断都有数据依据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E57A2A-76BE-4820-BCF8-93D054B9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59DDD-E6A9-4CF3-9F95-82EB03E8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931062-624B-4028-94CE-075DDB6F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381125"/>
            <a:ext cx="7067550" cy="4686300"/>
          </a:xfrm>
          <a:prstGeom xmlns:a="http://schemas.openxmlformats.org/drawingml/2006/main" prst="roundRect">
            <a:avLst>
              <a:gd name="adj" fmla="val 1220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801ff3006462b"/>
          <a:srcRect xmlns:a="http://schemas.openxmlformats.org/drawingml/2006/main" l="2655" t="0" r="26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409700"/>
            <a:ext cx="7010400" cy="4629150"/>
          </a:xfrm>
          <a:prstGeom xmlns:a="http://schemas.openxmlformats.org/drawingml/2006/main" prst="roundRect">
            <a:avLst>
              <a:gd name="adj" fmla="val 123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5CF08E-E07D-438D-A10B-7384BF6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2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A24B"/>
                </a:solidFill>
              </a:defRPr>
            </a:pPr>
            <a:r>
              <a:rPr sz="4350" b="1">
                <a:solidFill>
                  <a:srgbClr val="F5A24B"/>
                </a:solidFill>
              </a:rPr>
              <a:t>68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9E0DA8-006A-4BE7-807A-D23FDC0BA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触发时健康度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C68AA4-A878-4D95-9D07-4EAD7F3F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14668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F5A24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3EC7B1-25A8-4491-AB32-002EF249E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A24B"/>
                </a:solidFill>
              </a:defRPr>
            </a:pPr>
            <a:r>
              <a:rPr sz="1125" b="1">
                <a:solidFill>
                  <a:srgbClr val="F5A24B"/>
                </a:solidFill>
              </a:rPr>
              <a:t>二级预警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2D9E12-9BBD-4667-BF40-2EE5D9CB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09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6100DD-E1BD-4167-834F-1FDDEDEC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高负荷稳定运行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6C597F-F3E5-480F-BA80-01A976A6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工况基准随运行状态切换，不用单一阈值解释所有数据。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3F799-7819-46B2-82B5-03E3A607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38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3D818-B1B7-4953-9872-F2A5BE41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振动与温度持续上升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EB064-C3D8-414A-BA09-055381CD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482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贡献度与趋势共同支持“存在轴承温升风险”的辅助判断。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697BD-7BB1-43D4-9F51-7285D873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67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4399AC-541F-4588-9717-95481ED8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维修后回到92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D741B1-FF36-452F-A5EE-C7F722E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323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完成验证后更新设备、关闭预警、扣减库存并沉淀候选案例。</a:t>
            </a:r>
          </a:p>
        </p:txBody>
      </p:sp>
    </p:spTree>
    <p:extLst>
      <p:ext uri="{BB962C8B-B14F-4D97-AF65-F5344CB8AC3E}">
        <p14:creationId xmlns:p14="http://schemas.microsoft.com/office/powerpoint/2010/main" val="5055220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26134-09A6-43BB-8B35-8CFAFB646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F32A80-C2D7-43BD-B3FB-16EFCBAB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2BCBEB26-A5AB-429D-8357-114431F8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RAG先找证据，再生成建议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B2AF4-91ED-4899-AD19-565F48AA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063E1-EFA7-4E5C-8BC9-DE1D9645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6DDDA-30EB-4B7E-9E1C-18AF527A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7391400" cy="4705350"/>
          </a:xfrm>
          <a:prstGeom xmlns:a="http://schemas.openxmlformats.org/drawingml/2006/main" prst="roundRect">
            <a:avLst>
              <a:gd name="adj" fmla="val 1215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cc1a5f6a84b33"/>
          <a:srcRect xmlns:a="http://schemas.openxmlformats.org/drawingml/2006/main" l="671" t="0" r="67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7334250" cy="4648200"/>
          </a:xfrm>
          <a:prstGeom xmlns:a="http://schemas.openxmlformats.org/drawingml/2006/main" prst="roundRect">
            <a:avLst>
              <a:gd name="adj" fmla="val 12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12ADE-54A9-4049-9F16-E4177895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5621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6D7C4"/>
                </a:solidFill>
              </a:defRPr>
            </a:pPr>
            <a:r>
              <a:rPr sz="1800" b="1">
                <a:solidFill>
                  <a:srgbClr val="36D7C4"/>
                </a:solidFill>
              </a:rPr>
              <a:t>不是固定模板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EA8A1-3AAC-436D-96E3-8DEDBBFF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52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4EE1A-3023-4FFC-A326-175FAE153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76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设备与异常实体识别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22226-E1DC-4A96-8473-903191F5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622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问题先归一化，再匹配设备、指标和业务意图。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92782A-EB7E-41B0-AF5B-A4931A07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575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34E3C-2ED9-486D-A4E4-E2283C1C2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81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本地知识检索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32E329-BBD9-4824-9B02-E1E0DE0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671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10个故障案例与运维条目按相关度召回，并返回可核验引用。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CC728-D4AE-40C7-9AE2-AD787D6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EBF29F-9B2A-47C6-9A7C-35394069E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86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受控生成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FF3492-E6F8-4298-8DC1-E4320F9A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回答保留“疑似、可能、建议复核”等安全边界，不宣称确定性诊断。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C2ABA6-C156-41A5-849B-FE8D06BF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410200"/>
            <a:ext cx="321945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7F965B-0E7F-4B5B-BB1C-ADCEC253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467350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BB1C1"/>
                </a:solidFill>
              </a:defRPr>
            </a:pPr>
            <a:r>
              <a:rPr sz="1125" b="0">
                <a:solidFill>
                  <a:srgbClr val="9BB1C1"/>
                </a:solidFill>
              </a:rPr>
              <a:t>当前演示：规则/本地RAG可离线运行</a:t>
            </a:r>
          </a:p>
          <a:p xmlns:a="http://schemas.openxmlformats.org/drawingml/2006/main">
            <a:pPr algn="l">
              <a:defRPr sz="1125" b="0">
                <a:solidFill>
                  <a:srgbClr val="9BB1C1"/>
                </a:solidFill>
              </a:defRPr>
            </a:pPr>
            <a:r>
              <a:rPr sz="1125" b="0">
                <a:solidFill>
                  <a:srgbClr val="9BB1C1"/>
                </a:solidFill>
              </a:rPr>
              <a:t>配置真实Provider后仍保留降级能力</a:t>
            </a:r>
          </a:p>
        </p:txBody>
      </p:sp>
    </p:spTree>
    <p:extLst>
      <p:ext uri="{BB962C8B-B14F-4D97-AF65-F5344CB8AC3E}">
        <p14:creationId xmlns:p14="http://schemas.microsoft.com/office/powerpoint/2010/main" val="4436532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155012-BB6D-4F27-94C5-E3039375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761FA7-0A46-4606-B28B-748BA036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65F8D827-5083-4613-93A5-AC83B536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Agent把研判结果编排成一条可审计任务链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6EB281-E83B-4223-8C17-D92DB1924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903F6-A4A3-4F1C-98C7-7D74C0F0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B0446-4479-45D7-86B9-0ADCE905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1400175"/>
            <a:ext cx="7772400" cy="4705350"/>
          </a:xfrm>
          <a:prstGeom xmlns:a="http://schemas.openxmlformats.org/drawingml/2006/main" prst="roundRect">
            <a:avLst>
              <a:gd name="adj" fmla="val 1215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9b9341cc304e26"/>
          <a:srcRect xmlns:a="http://schemas.openxmlformats.org/drawingml/2006/main" l="0" t="1823" r="0" b="1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62400" y="1428750"/>
            <a:ext cx="7715250" cy="4648200"/>
          </a:xfrm>
          <a:prstGeom xmlns:a="http://schemas.openxmlformats.org/drawingml/2006/main" prst="roundRect">
            <a:avLst>
              <a:gd name="adj" fmla="val 123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2C8C00-80AD-45AA-88DA-58285323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36D7C4"/>
                </a:solidFill>
              </a:defRPr>
            </a:pPr>
            <a:r>
              <a:rPr sz="4350" b="1">
                <a:solidFill>
                  <a:srgbClr val="36D7C4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96C4D2-36D1-4137-88C4-960A1A1E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BB1C1"/>
                </a:solidFill>
              </a:defRPr>
            </a:pPr>
            <a:r>
              <a:rPr sz="1275" b="0">
                <a:solidFill>
                  <a:srgbClr val="9BB1C1"/>
                </a:solidFill>
              </a:rPr>
              <a:t>个受控业务工具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4110C2-28AB-4237-B6E6-8EC93C5F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373015-9469-45A7-B607-C01D20EF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24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先查数据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57E39A-49C4-4BED-BB60-73565EEF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读取设备、遥测、预警、工单、库存与知识证据。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E79CF0-7587-46DD-AA43-92F64AE1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67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2DEA90-41B9-44CF-A189-10BC025C7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再做决策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8F49CE-BFEF-40E3-94E5-CC8DDB8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根据风险、时限和备件可用性生成处理优先级。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6A9227-0E2B-4806-9D8F-725AC856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742F42-3017-431C-A0DB-B5FCA61B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577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最后留痕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1CA045-BFCC-4281-A95D-04080C64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43500"/>
            <a:ext cx="276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每一步工具调用、输入摘要和结果都可查看，而非隐藏链路。</a:t>
            </a:r>
          </a:p>
        </p:txBody>
      </p:sp>
    </p:spTree>
    <p:extLst>
      <p:ext uri="{BB962C8B-B14F-4D97-AF65-F5344CB8AC3E}">
        <p14:creationId xmlns:p14="http://schemas.microsoft.com/office/powerpoint/2010/main" val="11371355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CA969F-A1BF-4564-A18C-E315871E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CF4C9-A18C-4BA3-A268-8FC11A18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766CD1E2-34E3-4D9B-A105-A2D50B70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3D数字孪生回答“故障在哪里、影响什么”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2C53E3-1A5B-4F3F-9D6B-2E813E26C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2182B-E48C-49F5-AB09-D439D3888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16CE3-E2F3-4D2D-9C8C-9555FA3B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62075"/>
            <a:ext cx="7848600" cy="4819650"/>
          </a:xfrm>
          <a:prstGeom xmlns:a="http://schemas.openxmlformats.org/drawingml/2006/main" prst="roundRect">
            <a:avLst>
              <a:gd name="adj" fmla="val 1186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46eac1921424b"/>
          <a:srcRect xmlns:a="http://schemas.openxmlformats.org/drawingml/2006/main" l="0" t="1121" r="0" b="11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390650"/>
            <a:ext cx="7791450" cy="4762500"/>
          </a:xfrm>
          <a:prstGeom xmlns:a="http://schemas.openxmlformats.org/drawingml/2006/main" prst="roundRect">
            <a:avLst>
              <a:gd name="adj" fmla="val 120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DD1F1A-83B3-455C-8A7A-E97129869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466850"/>
            <a:ext cx="16192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36D7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7DBED-D742-4EEE-91F6-785329D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859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7C4"/>
                </a:solidFill>
              </a:defRPr>
            </a:pPr>
            <a:r>
              <a:rPr sz="1125" b="1">
                <a:solidFill>
                  <a:srgbClr val="36D7C4"/>
                </a:solidFill>
              </a:rPr>
              <a:t>增强模型 v1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3A4D4-6BCE-4F06-95DE-918184EB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114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FF5C68"/>
                </a:solidFill>
              </a:defRPr>
            </a:pPr>
            <a:r>
              <a:rPr sz="4200" b="1">
                <a:solidFill>
                  <a:srgbClr val="FF5C68"/>
                </a:solidFill>
              </a:rPr>
              <a:t>42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CE18C-ED5C-479C-8389-8F347D033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479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高风险健康度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B20DED-261D-42FC-AAE0-7109608C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004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F7187E-0E91-4FAE-92E0-BCF6A1B42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16/16关键节点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765C99-998A-4BD4-A4D1-FB943D8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机壳、叶轮、电机、主轴、联轴器、轴承与定位节点均可按名称查找。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4D941-D816-4233-B342-EA6EB899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481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55B08-232E-4A40-A4D9-C0054DBA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1719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四种故障场景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9ACB2-6368-4346-A058-3A3F4F6A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577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正常、叶轮不平衡、轴承温升、联轴器不对中驱动模型与指标联动。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6344EB-4A07-4B35-B44B-DF9CD966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2959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DC97AE-AFD4-4804-B13B-251DACBB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LOD与原模型回退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9D9915-9595-4EC9-9113-31C7DA533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054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3级轻量模型兼顾性能，原始GLB仍可通过参数切换。</a:t>
            </a:r>
          </a:p>
        </p:txBody>
      </p:sp>
    </p:spTree>
    <p:extLst>
      <p:ext uri="{BB962C8B-B14F-4D97-AF65-F5344CB8AC3E}">
        <p14:creationId xmlns:p14="http://schemas.microsoft.com/office/powerpoint/2010/main" val="70861539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E3B388-1038-47F8-B664-C72C7363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8AD58-7DC2-4D16-A5C0-B1D95E7B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5E8EF7BA-61E1-443B-8A41-27DF65B2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工单状态机把一次诊断变成可验证的维修行动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6A47CF-7909-424D-A402-BD4ADD1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FD98C-7549-4857-A4BB-15DB18A5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B2346-88B7-4353-A36C-04C896D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00175"/>
            <a:ext cx="6915150" cy="4362450"/>
          </a:xfrm>
          <a:prstGeom xmlns:a="http://schemas.openxmlformats.org/drawingml/2006/main" prst="roundRect">
            <a:avLst>
              <a:gd name="adj" fmla="val 1310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bdaf1174d4d62"/>
          <a:srcRect xmlns:a="http://schemas.openxmlformats.org/drawingml/2006/main" l="221" t="0" r="2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28750"/>
            <a:ext cx="6858000" cy="4305300"/>
          </a:xfrm>
          <a:prstGeom xmlns:a="http://schemas.openxmlformats.org/drawingml/2006/main" prst="roundRect">
            <a:avLst>
              <a:gd name="adj" fmla="val 1327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DD59C-2D47-43A0-B956-96E5A8B6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400175"/>
            <a:ext cx="4057650" cy="2324100"/>
          </a:xfrm>
          <a:prstGeom xmlns:a="http://schemas.openxmlformats.org/drawingml/2006/main" prst="roundRect">
            <a:avLst>
              <a:gd name="adj" fmla="val 2459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bb89d88144494"/>
          <a:srcRect xmlns:a="http://schemas.openxmlformats.org/drawingml/2006/main" l="0" t="4686" r="0" b="46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77150" y="1428750"/>
            <a:ext cx="4000500" cy="2266950"/>
          </a:xfrm>
          <a:prstGeom xmlns:a="http://schemas.openxmlformats.org/drawingml/2006/main" prst="roundRect">
            <a:avLst>
              <a:gd name="adj" fmla="val 252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99318-B680-4E31-A61B-9DBD53AA3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3848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6D7C4"/>
                </a:solidFill>
              </a:defRPr>
            </a:pPr>
            <a:r>
              <a:rPr sz="1350" b="1">
                <a:solidFill>
                  <a:srgbClr val="36D7C4"/>
                </a:solidFill>
              </a:rPr>
              <a:t>待接单  →  已接单  →  检修中  →  待验证  →  已完成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F1B6B-A85F-4CA3-ACD3-B3DBD4B0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2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79E30-14BE-4BAC-8631-3DF366471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863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幂等扣减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93DDA-2B70-415B-A0F0-FF63696BC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9720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重复完成不会重复扣库存；库存不足时阻止完成。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250D8-F408-4468-8680-D3743883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600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AD534A-C2B5-4700-BC4F-8DA3FCEC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524500"/>
            <a:ext cx="3581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飞书真实协同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6214C-D0F1-4257-9FAF-41A9E1A8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810250"/>
            <a:ext cx="3581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工单模块可独立使用多维表格，其他模块缺配置时继续Mock。</a:t>
            </a:r>
          </a:p>
        </p:txBody>
      </p:sp>
    </p:spTree>
    <p:extLst>
      <p:ext uri="{BB962C8B-B14F-4D97-AF65-F5344CB8AC3E}">
        <p14:creationId xmlns:p14="http://schemas.microsoft.com/office/powerpoint/2010/main" val="6881050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525E3B-B3C8-4394-A798-DECCE094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8ADDB-79B1-490E-8793-7A42E6D6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8">
            <a:extLst xmlns:a="http://schemas.openxmlformats.org/drawingml/2006/main">
              <a:ext uri="{FF2B5EF4-FFF2-40B4-BE49-F238E27FC236}">
                <a16:creationId xmlns:a16="http://schemas.microsoft.com/office/drawing/2014/main" id="{B1E0C92B-0BFB-458D-B1CE-C2850C0A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六类AI能力，不是六个孤立Demo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F69B25-2FCB-4993-A449-F6021E1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102697-4B5F-4D90-AEFA-D495D022B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05107-E66D-4C24-B1BE-8EC0B5D9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381125"/>
            <a:ext cx="7162800" cy="4724400"/>
          </a:xfrm>
          <a:prstGeom xmlns:a="http://schemas.openxmlformats.org/drawingml/2006/main" prst="roundRect">
            <a:avLst>
              <a:gd name="adj" fmla="val 1210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358615c124065"/>
          <a:srcRect xmlns:a="http://schemas.openxmlformats.org/drawingml/2006/main" l="2403" t="0" r="240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409700"/>
            <a:ext cx="7105650" cy="4667250"/>
          </a:xfrm>
          <a:prstGeom xmlns:a="http://schemas.openxmlformats.org/drawingml/2006/main" prst="roundRect">
            <a:avLst>
              <a:gd name="adj" fmla="val 122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3E2E4-AA63-4444-B7DA-D8507591A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668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7C4"/>
                </a:solidFill>
              </a:defRPr>
            </a:pPr>
            <a:r>
              <a:rPr sz="1500" b="1">
                <a:solidFill>
                  <a:srgbClr val="36D7C4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F3D16-8DA2-44D5-B894-B9A22BB00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668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自然语言研判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C03C2C-2627-4174-BC92-3A87A217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0A3D45-8F40-48EC-884F-287D8E1F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A8FF"/>
                </a:solidFill>
              </a:defRPr>
            </a:pPr>
            <a:r>
              <a:rPr sz="1500" b="1">
                <a:solidFill>
                  <a:srgbClr val="4AA8F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02A3C6-0DE7-49E8-8BB2-8D5318B53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可追溯RAG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D96857-F7D2-4503-97C4-D727BF8E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289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2A184-5630-409E-B31A-D0DE52A3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A24B"/>
                </a:solidFill>
              </a:defRPr>
            </a:pPr>
            <a:r>
              <a:rPr sz="1500" b="1">
                <a:solidFill>
                  <a:srgbClr val="F5A24B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B6F29-024D-41EA-9078-E37740BE6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受控Agent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210374-7C3C-46D2-B032-5F56AF79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5A05C-4F48-4783-85EF-3567CAE1D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38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7C4"/>
                </a:solidFill>
              </a:defRPr>
            </a:pPr>
            <a:r>
              <a:rPr sz="1500" b="1">
                <a:solidFill>
                  <a:srgbClr val="36D7C4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5ED132-B69E-4344-824D-8AF552E6B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38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多模态入口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8D5A4-5DCB-4E3C-AB2F-0785E2BA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05A70-F73E-4313-AF61-8916CE2A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624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AA8FF"/>
                </a:solidFill>
              </a:defRPr>
            </a:pPr>
            <a:r>
              <a:rPr sz="1500" b="1">
                <a:solidFill>
                  <a:srgbClr val="4AA8FF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740C2-703D-4E6C-A866-66201EDF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语义3D模型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7DD3E5-4B71-4DD7-A4A7-FAFA4E53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006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6C95ED-022B-404D-B79D-7813AFBB6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A24B"/>
                </a:solidFill>
              </a:defRPr>
            </a:pPr>
            <a:r>
              <a:rPr sz="1500" b="1">
                <a:solidFill>
                  <a:srgbClr val="F5A24B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406737-895C-4D9B-B278-BE1E75F0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863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3F7FA"/>
                </a:solidFill>
              </a:defRPr>
            </a:pPr>
            <a:r>
              <a:rPr sz="1425" b="1">
                <a:solidFill>
                  <a:srgbClr val="F3F7FA"/>
                </a:solidFill>
              </a:rPr>
              <a:t>飞书原生协同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50808C-567D-498B-B12C-FEC02E99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0"/>
            <a:ext cx="335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8386580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E197E7-365A-4DD7-BB5F-46EB4DDE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0FED92-68A8-4B59-8861-56FFD239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9">
            <a:extLst xmlns:a="http://schemas.openxmlformats.org/drawingml/2006/main">
              <a:ext uri="{FF2B5EF4-FFF2-40B4-BE49-F238E27FC236}">
                <a16:creationId xmlns:a16="http://schemas.microsoft.com/office/drawing/2014/main" id="{010A54C5-1F63-4976-AA81-859589CA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统一适配器架构，让演示稳定、真实接入可渐进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39786-C10B-4BAB-B952-E98ED7C8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EDD759-04E6-4BE1-BF3D-7581F0AD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8BA34-B0AE-4433-8021-B5079A2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20764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C1E2D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EF2EEA-DBD6-4083-9562-C6BC5D90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A8FF"/>
                </a:solidFill>
              </a:defRPr>
            </a:pPr>
            <a:r>
              <a:rPr sz="1725" b="1">
                <a:solidFill>
                  <a:srgbClr val="4AA8FF"/>
                </a:solidFill>
              </a:rPr>
              <a:t>交互层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636C88-CDA8-4609-87BD-6DAF60B99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B608F6-833F-445A-8EB7-03902A34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网页 · 飞书机器人</a:t>
            </a:r>
          </a:p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3D工作台 · 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34E3F-0F76-46D7-B278-D11816A5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D7C4"/>
                </a:solidFill>
              </a:defRPr>
            </a:pPr>
            <a:r>
              <a:rPr sz="2250" b="1">
                <a:solidFill>
                  <a:srgbClr val="36D7C4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2B065C-07B9-4246-8738-5FCF2769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866900"/>
            <a:ext cx="20764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C1E2D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5FD57A-A718-4634-910C-C898CAB5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6D7C4"/>
                </a:solidFill>
              </a:defRPr>
            </a:pPr>
            <a:r>
              <a:rPr sz="1725" b="1">
                <a:solidFill>
                  <a:srgbClr val="36D7C4"/>
                </a:solidFill>
              </a:rPr>
              <a:t>智能层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6420B-998F-46DD-B281-9793E09B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527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46AAAD-512E-4F62-97A4-011ACE008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003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IntentRouter · RAG</a:t>
            </a:r>
          </a:p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MaintenanceAgent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D06A37-7116-42E4-8A35-8CABAAA3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6098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D7C4"/>
                </a:solidFill>
              </a:defRPr>
            </a:pPr>
            <a:r>
              <a:rPr sz="2250" b="1">
                <a:solidFill>
                  <a:srgbClr val="36D7C4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F8BC6F-28C9-4FA1-9CD0-B6040AD1E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66900"/>
            <a:ext cx="20764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C1E2D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6CEF1-1CB8-4E17-A5DA-78B104B7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57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A24B"/>
                </a:solidFill>
              </a:defRPr>
            </a:pPr>
            <a:r>
              <a:rPr sz="1725" b="1">
                <a:solidFill>
                  <a:srgbClr val="F5A24B"/>
                </a:solidFill>
              </a:rPr>
              <a:t>业务层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42065-B613-4754-B1E2-88CBBA41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527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BB84E2-6F0F-4692-9DB8-6C3A419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8003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健康度 · 预警</a:t>
            </a:r>
          </a:p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工单状态机 · 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DE8BF-BCD2-43B5-A458-F49088D5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60985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6D7C4"/>
                </a:solidFill>
              </a:defRPr>
            </a:pPr>
            <a:r>
              <a:rPr sz="2250" b="1">
                <a:solidFill>
                  <a:srgbClr val="36D7C4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70E760-E4F4-4D6D-ABBA-382B506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66900"/>
            <a:ext cx="2076450" cy="200025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C1E2D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E93631-11E7-415E-878B-D49A70F0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57400"/>
            <a:ext cx="173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4AA8FF"/>
                </a:solidFill>
              </a:defRPr>
            </a:pPr>
            <a:r>
              <a:rPr sz="1725" b="1">
                <a:solidFill>
                  <a:srgbClr val="4AA8FF"/>
                </a:solidFill>
              </a:rPr>
              <a:t>适配层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6D60A9-B2C9-44EF-AA70-2E39C3F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AA27BE-DE7F-4054-92B6-B92553064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0350"/>
            <a:ext cx="17335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Mock Repository</a:t>
            </a:r>
          </a:p>
          <a:p xmlns:a="http://schemas.openxmlformats.org/drawingml/2006/main">
            <a:pPr algn="ctr">
              <a:defRPr sz="1350" b="0">
                <a:solidFill>
                  <a:srgbClr val="F3F7FA"/>
                </a:solidFill>
              </a:defRPr>
            </a:pPr>
            <a:r>
              <a:rPr sz="1350" b="0">
                <a:solidFill>
                  <a:srgbClr val="F3F7FA"/>
                </a:solidFill>
              </a:rPr>
              <a:t>Feishu Repository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837F44-8124-412A-87B9-38ABB135F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95631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D7B78-FFFE-4B02-A9F4-9883A0DF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10100"/>
            <a:ext cx="424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6D7C4"/>
                </a:solidFill>
              </a:defRPr>
            </a:pPr>
            <a:r>
              <a:rPr sz="1500" b="1">
                <a:solidFill>
                  <a:srgbClr val="36D7C4"/>
                </a:solidFill>
              </a:rPr>
              <a:t>配置完整：按模块进入飞书真实数据模式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FE97D8-8513-4D12-AC84-CAD40BF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BB1C1"/>
                </a:solidFill>
              </a:defRPr>
            </a:pPr>
            <a:r>
              <a:rPr sz="1350" b="0">
                <a:solidFill>
                  <a:srgbClr val="9BB1C1"/>
                </a:solidFill>
              </a:rPr>
              <a:t>配置缺失：只有对应模块降级，页面、3D与完整演示闭环不崩溃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DDE78D-BEF5-4BE5-BFFE-D6AA2BD0F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48200"/>
            <a:ext cx="11811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F5A24B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C0861-A3EE-41AB-BEEE-EAD795D8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67250"/>
            <a:ext cx="990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5A24B"/>
                </a:solidFill>
              </a:defRPr>
            </a:pPr>
            <a:r>
              <a:rPr sz="1125" b="1">
                <a:solidFill>
                  <a:srgbClr val="F5A24B"/>
                </a:solidFill>
              </a:rPr>
              <a:t>Secret仅服务端</a:t>
            </a:r>
          </a:p>
        </p:txBody>
      </p:sp>
    </p:spTree>
    <p:extLst>
      <p:ext uri="{BB962C8B-B14F-4D97-AF65-F5344CB8AC3E}">
        <p14:creationId xmlns:p14="http://schemas.microsoft.com/office/powerpoint/2010/main" val="20823929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4EF50-F043-409E-B931-FAA224F85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56DB8B-E29F-492B-9BC5-3C05D82A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10">
            <a:extLst xmlns:a="http://schemas.openxmlformats.org/drawingml/2006/main">
              <a:ext uri="{FF2B5EF4-FFF2-40B4-BE49-F238E27FC236}">
                <a16:creationId xmlns:a16="http://schemas.microsoft.com/office/drawing/2014/main" id="{C50703B5-1FE6-4FB9-8544-8B24FDE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可信，来自明确标注边界和可复现验证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5F1BE-2C03-4F71-B481-72425EDB3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B477B-4A31-4A3D-81BC-F6C83977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F14835-E20B-46EE-BB5F-DD77DD2F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419225"/>
            <a:ext cx="5200650" cy="32004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58ac33a7474fb1"/>
          <a:srcRect xmlns:a="http://schemas.openxmlformats.org/drawingml/2006/main" l="0" t="1132" r="0" b="11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447800"/>
            <a:ext cx="514350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A410A-BA9F-466F-B638-BFF4CA20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19225"/>
            <a:ext cx="5753100" cy="32004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8cf6101537417e"/>
          <a:srcRect xmlns:a="http://schemas.openxmlformats.org/drawingml/2006/main" l="0" t="5871" r="0" b="58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1447800"/>
            <a:ext cx="5695950" cy="3143250"/>
          </a:xfrm>
          <a:prstGeom xmlns:a="http://schemas.openxmlformats.org/drawingml/2006/main" prst="roundRect">
            <a:avLst>
              <a:gd name="adj" fmla="val 1818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143305-B862-452F-93AE-F24B8C9C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91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24B"/>
                </a:solidFill>
              </a:defRPr>
            </a:pPr>
            <a:r>
              <a:rPr sz="1575" b="1">
                <a:solidFill>
                  <a:srgbClr val="F5A24B"/>
                </a:solidFill>
              </a:rPr>
              <a:t>模拟数据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8329BC-4349-488E-8D8F-A8341BB0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149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所有运行指标与诊断结果均明确标注比赛演示属性。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78327-8956-4243-99A5-401D4F68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991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D7C4"/>
                </a:solidFill>
              </a:defRPr>
            </a:pPr>
            <a:r>
              <a:rPr sz="1575" b="1">
                <a:solidFill>
                  <a:srgbClr val="36D7C4"/>
                </a:solidFill>
              </a:rPr>
              <a:t>真实联调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A1B391-FC80-47E2-B595-EADC56BC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149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飞书工单创建与状态同步由适配层完成，不用Mock成功掩盖失败。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121390-B078-4BE3-AA60-496622DC4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911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AA8FF"/>
                </a:solidFill>
              </a:defRPr>
            </a:pPr>
            <a:r>
              <a:rPr sz="1575" b="1">
                <a:solidFill>
                  <a:srgbClr val="4AA8FF"/>
                </a:solidFill>
              </a:rPr>
              <a:t>工程门禁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5ADF1-F514-4006-9999-B33E9B922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14950"/>
            <a:ext cx="333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BB1C1"/>
                </a:solidFill>
              </a:defRPr>
            </a:pPr>
            <a:r>
              <a:rPr sz="1200" b="0">
                <a:solidFill>
                  <a:srgbClr val="9BB1C1"/>
                </a:solidFill>
              </a:rPr>
              <a:t>lint、typecheck、测试、构建与生产校验共同阻止回归。</a:t>
            </a:r>
          </a:p>
        </p:txBody>
      </p:sp>
    </p:spTree>
    <p:extLst>
      <p:ext uri="{BB962C8B-B14F-4D97-AF65-F5344CB8AC3E}">
        <p14:creationId xmlns:p14="http://schemas.microsoft.com/office/powerpoint/2010/main" val="12661889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3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00F2D-C54B-47B8-8258-9CAAED23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7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133839-E9F0-4B53-BCDF-CC4B9536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7C4"/>
                </a:solidFill>
              </a:defRPr>
            </a:pPr>
            <a:r>
              <a:rPr sz="975" b="1">
                <a:solidFill>
                  <a:srgbClr val="36D7C4"/>
                </a:solidFill>
              </a:rPr>
              <a:t>烽燧智守 · AI创新比赛</a:t>
            </a:r>
          </a:p>
        </p:txBody>
      </p:sp>
      <p:sp>
        <p:nvSpPr>
          <p:cNvPr id="3" name="title-11">
            <a:extLst xmlns:a="http://schemas.openxmlformats.org/drawingml/2006/main">
              <a:ext uri="{FF2B5EF4-FFF2-40B4-BE49-F238E27FC236}">
                <a16:creationId xmlns:a16="http://schemas.microsoft.com/office/drawing/2014/main" id="{C6697615-70B5-4FA8-A8E2-FA18DFAC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150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3F7FA"/>
                </a:solidFill>
              </a:defRPr>
            </a:pPr>
            <a:r>
              <a:rPr sz="2700" b="1">
                <a:solidFill>
                  <a:srgbClr val="F3F7FA"/>
                </a:solidFill>
              </a:rPr>
              <a:t>烽燧智守的价值：把“看见异常”推进到“完成验证”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66CFA-5885-4044-8416-992547A08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811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CA0BD-EA8E-4084-8583-F9D954E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3429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9BB1C1"/>
                </a:solidFill>
              </a:defRPr>
            </a:pPr>
            <a:r>
              <a:rPr sz="1050" b="0">
                <a:solidFill>
                  <a:srgbClr val="9BB1C1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17818-599E-41AF-ABD5-BAEEFF29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400175"/>
            <a:ext cx="5581650" cy="43434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06101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7c4b6f9e9496a"/>
          <a:srcRect xmlns:a="http://schemas.openxmlformats.org/drawingml/2006/main" l="9705" t="0" r="970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428750"/>
            <a:ext cx="5524500" cy="4286250"/>
          </a:xfrm>
          <a:prstGeom xmlns:a="http://schemas.openxmlformats.org/drawingml/2006/main" prst="roundRect">
            <a:avLst>
              <a:gd name="adj" fmla="val 1333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1018A1-0B09-4464-8DED-E7421AC8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A8FF"/>
                </a:solidFill>
              </a:defRPr>
            </a:pPr>
            <a:r>
              <a:rPr sz="1875" b="1">
                <a:solidFill>
                  <a:srgbClr val="4AA8FF"/>
                </a:solidFill>
              </a:rPr>
              <a:t>监测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A619-898B-41FB-B13B-121069A3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3F7FA"/>
                </a:solidFill>
              </a:defRPr>
            </a:pPr>
            <a:r>
              <a:rPr sz="1875" b="1">
                <a:solidFill>
                  <a:srgbClr val="F3F7FA"/>
                </a:solidFill>
              </a:rPr>
              <a:t>→ 研判 → 定位 → 通知 → 工单 → 维修 → 验证 → 知识回流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08824-0548-4728-80FA-DE62CF92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BB1C1"/>
                </a:solidFill>
              </a:defRPr>
            </a:pPr>
            <a:r>
              <a:rPr sz="1650" b="0">
                <a:solidFill>
                  <a:srgbClr val="9BB1C1"/>
                </a:solidFill>
              </a:rPr>
              <a:t>不是把AI放进一个页面，</a:t>
            </a:r>
          </a:p>
          <a:p xmlns:a="http://schemas.openxmlformats.org/drawingml/2006/main">
            <a:pPr algn="l">
              <a:defRPr sz="1650" b="0">
                <a:solidFill>
                  <a:srgbClr val="9BB1C1"/>
                </a:solidFill>
              </a:defRPr>
            </a:pPr>
            <a:r>
              <a:rPr sz="1650" b="0">
                <a:solidFill>
                  <a:srgbClr val="9BB1C1"/>
                </a:solidFill>
              </a:rPr>
              <a:t>而是把AI放进一条可执行、可追溯、可恢复的运维流程。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CBCA1-D68F-47C6-BEBD-4772CE77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485775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283A"/>
          </a:solidFill>
          <a:ln xmlns:a="http://schemas.openxmlformats.org/drawingml/2006/main" w="9525">
            <a:solidFill>
              <a:srgbClr val="21455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D01761-3E56-417A-BBD4-0C1E6C95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A24B"/>
                </a:solidFill>
              </a:defRPr>
            </a:pPr>
            <a:r>
              <a:rPr sz="1200" b="0">
                <a:solidFill>
                  <a:srgbClr val="F5A24B"/>
                </a:solidFill>
              </a:rPr>
              <a:t>下一步：接入企业真实监测数据、设备说明书与安全规程，</a:t>
            </a:r>
          </a:p>
          <a:p xmlns:a="http://schemas.openxmlformats.org/drawingml/2006/main">
            <a:pPr algn="l">
              <a:defRPr sz="1200" b="0">
                <a:solidFill>
                  <a:srgbClr val="F5A24B"/>
                </a:solidFill>
              </a:defRPr>
            </a:pPr>
            <a:r>
              <a:rPr sz="1200" b="0">
                <a:solidFill>
                  <a:srgbClr val="F5A24B"/>
                </a:solidFill>
              </a:rPr>
              <a:t>在专业人员监督下开展现场验证。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3747051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2026-07-19T18:30:31.6960000Z</dcterms:created>
  <dcterms:modified xsi:type="dcterms:W3CDTF">2026-07-19T18:30:31.6960000Z</dcterms:modified>
</coreProperties>
</file>